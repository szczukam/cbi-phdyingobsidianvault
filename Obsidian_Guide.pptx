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55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35440" y="914400"/>
            <a:ext cx="1371600" cy="36576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280160"/>
            <a:ext cx="2103120" cy="82296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9235439" y="1280159"/>
            <a:ext cx="908163" cy="1371599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914400"/>
            <a:ext cx="731520" cy="118872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149840" y="2697479"/>
            <a:ext cx="1005840" cy="132588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2367049"/>
            <a:ext cx="1402772" cy="284711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181012" y="2136371"/>
            <a:ext cx="1188719" cy="487334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3749040"/>
            <a:ext cx="1463040" cy="27432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158755" y="5153891"/>
            <a:ext cx="1188720" cy="41148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3749040"/>
            <a:ext cx="731520" cy="137160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74173" y="5577839"/>
            <a:ext cx="1242545" cy="492529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4206240"/>
            <a:ext cx="640080" cy="137160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1155680" y="2103120"/>
            <a:ext cx="182880" cy="192024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34856" y="117957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>
            <a:spLocks noChangeAspect="1"/>
          </p:cNvSpPr>
          <p:nvPr/>
        </p:nvSpPr>
        <p:spPr>
          <a:xfrm>
            <a:off x="10528069" y="835429"/>
            <a:ext cx="180000" cy="180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>
            <a:spLocks noChangeAspect="1"/>
          </p:cNvSpPr>
          <p:nvPr/>
        </p:nvSpPr>
        <p:spPr>
          <a:xfrm>
            <a:off x="11222311" y="2009148"/>
            <a:ext cx="216000" cy="216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49256" y="255117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709660" y="23088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>
            <a:spLocks noChangeAspect="1"/>
          </p:cNvSpPr>
          <p:nvPr/>
        </p:nvSpPr>
        <p:spPr>
          <a:xfrm>
            <a:off x="9624060" y="3680460"/>
            <a:ext cx="180000" cy="180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55096" y="392277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35340" y="41376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55580" y="50520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9043416" y="547725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22860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640080" y="3703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note-taking tool for research, science, bibliography,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project &amp; task management — explained from scratch.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NOTES  •  LOCAL FILES  •  LINKED THINKING</a:t>
            </a:r>
            <a:endParaRPr lang="en-US" sz="11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9505840-C0AE-B637-22F6-7BDED708B2F1}"/>
              </a:ext>
            </a:extLst>
          </p:cNvPr>
          <p:cNvSpPr/>
          <p:nvPr/>
        </p:nvSpPr>
        <p:spPr>
          <a:xfrm flipV="1">
            <a:off x="7123068" y="2887288"/>
            <a:ext cx="446364" cy="1035488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DCCF8439-33CE-C6C5-4C7F-548FFAEE845D}"/>
              </a:ext>
            </a:extLst>
          </p:cNvPr>
          <p:cNvSpPr/>
          <p:nvPr/>
        </p:nvSpPr>
        <p:spPr>
          <a:xfrm>
            <a:off x="8026632" y="1149928"/>
            <a:ext cx="731520" cy="118872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B3165AB0-B449-F8BB-8F15-DAECF09EEA10}"/>
              </a:ext>
            </a:extLst>
          </p:cNvPr>
          <p:cNvSpPr/>
          <p:nvPr/>
        </p:nvSpPr>
        <p:spPr>
          <a:xfrm>
            <a:off x="6197832" y="2602577"/>
            <a:ext cx="1402772" cy="284711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054DB2D5-DDC8-4E18-AB4A-41F361DCCA10}"/>
              </a:ext>
            </a:extLst>
          </p:cNvPr>
          <p:cNvSpPr/>
          <p:nvPr/>
        </p:nvSpPr>
        <p:spPr>
          <a:xfrm flipV="1">
            <a:off x="7600604" y="2371899"/>
            <a:ext cx="1188719" cy="487334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F2909994-2035-284E-28D9-3438C8431D81}"/>
              </a:ext>
            </a:extLst>
          </p:cNvPr>
          <p:cNvSpPr/>
          <p:nvPr/>
        </p:nvSpPr>
        <p:spPr>
          <a:xfrm>
            <a:off x="7022592" y="3850455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B01C96D3-EA09-BFB8-8C0D-54056ED701FA}"/>
              </a:ext>
            </a:extLst>
          </p:cNvPr>
          <p:cNvSpPr>
            <a:spLocks noChangeAspect="1"/>
          </p:cNvSpPr>
          <p:nvPr/>
        </p:nvSpPr>
        <p:spPr>
          <a:xfrm>
            <a:off x="7947661" y="1070957"/>
            <a:ext cx="180000" cy="180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DBEA55CE-3272-A0F5-58BA-5D505EE8B899}"/>
              </a:ext>
            </a:extLst>
          </p:cNvPr>
          <p:cNvSpPr>
            <a:spLocks noChangeAspect="1"/>
          </p:cNvSpPr>
          <p:nvPr/>
        </p:nvSpPr>
        <p:spPr>
          <a:xfrm>
            <a:off x="8641903" y="2244676"/>
            <a:ext cx="216000" cy="216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B402A507-ECF0-1814-1C23-AAFDEC647061}"/>
              </a:ext>
            </a:extLst>
          </p:cNvPr>
          <p:cNvSpPr/>
          <p:nvPr/>
        </p:nvSpPr>
        <p:spPr>
          <a:xfrm>
            <a:off x="7468848" y="2786704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4E459FFE-AF6E-5732-2436-573B160BCBA2}"/>
              </a:ext>
            </a:extLst>
          </p:cNvPr>
          <p:cNvSpPr/>
          <p:nvPr/>
        </p:nvSpPr>
        <p:spPr>
          <a:xfrm>
            <a:off x="6129252" y="2544388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8E86C00E-2D2F-0592-3AC6-8E46B67CA3BC}"/>
              </a:ext>
            </a:extLst>
          </p:cNvPr>
          <p:cNvSpPr/>
          <p:nvPr/>
        </p:nvSpPr>
        <p:spPr>
          <a:xfrm>
            <a:off x="7567691" y="2892484"/>
            <a:ext cx="2156121" cy="900543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547C0EB2-04B3-AE42-4268-5914B0EE3F12}"/>
              </a:ext>
            </a:extLst>
          </p:cNvPr>
          <p:cNvSpPr/>
          <p:nvPr/>
        </p:nvSpPr>
        <p:spPr>
          <a:xfrm>
            <a:off x="7466564" y="2782548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2A3C4E3D-1FF8-C30A-C465-04BC0B653D5F}"/>
              </a:ext>
            </a:extLst>
          </p:cNvPr>
          <p:cNvSpPr/>
          <p:nvPr/>
        </p:nvSpPr>
        <p:spPr>
          <a:xfrm>
            <a:off x="10297323" y="6001788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Obsidian?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is a free app for taking notes as plain-text Markdown files, stored locally on your computer. Instead of folders alone, you connect notes to each other with links — turning your notes into a personal, explorable web of ideas.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211A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5204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7" name="Image 0" descr="/home/claude/obsidian_deck/icons/fil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36747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389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Markdown files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plain .md text files you fully own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32004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211A3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35204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2" name="Image 1" descr="/home/claude/obsidian_deck/icons/folde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905" y="36747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4389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computer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4846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 in a folder called a "vault"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32004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211A3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35204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7" name="Image 2" descr="/home/claude/obsidian_deck/icons/dollar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45" y="367474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389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 use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46520" y="4846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 is free; optional paid sync/publish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32004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211A30"/>
          </a:solidFill>
          <a:ln/>
        </p:spPr>
      </p:sp>
      <p:sp>
        <p:nvSpPr>
          <p:cNvPr id="21" name="Shape 16"/>
          <p:cNvSpPr/>
          <p:nvPr/>
        </p:nvSpPr>
        <p:spPr>
          <a:xfrm>
            <a:off x="9326880" y="35204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22" name="Image 3" descr="/home/claude/obsidian_deck/icons/layer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1185" y="367474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4389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1000+ plugins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81160" y="4846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 for almost any workflow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explain almost everything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11A3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6" name="Image 0" descr="/home/claude/obsidian_deck/icons/folder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19122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73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1305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on your computer holding all your notes. You can have several vaults for different areas of life.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11A30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737360"/>
            <a:ext cx="777240" cy="77724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1" name="Image 1" descr="/home/claude/obsidian_deck/icons/fil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79" y="19122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673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1305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 is a simple Markdown text file — readable in any text editor, forever, even without Obsidian.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11A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777240" cy="77724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6" name="Image 2" descr="/home/claude/obsidian_deck/icons/lin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839" y="41982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959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[[ ]]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44165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[[note name]] to connect two notes. Links can be created before the target note even exists.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7033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11A30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023360"/>
            <a:ext cx="777240" cy="77724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21" name="Image 3" descr="/home/claude/obsidian_deck/icons/networ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279" y="41982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959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view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44165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map of every note and link — patterns and connections you didn't know were there become visible.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 &amp; SCIENTISTS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researchers rely on Obsidian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5" name="Image 0" descr="/home/claude/obsidian_deck/icons/lin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447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ideas across papers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86537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note about a method to every paper that used it — the connection stays visible, not buried in a folder.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9" name="Image 1" descr="/home/claude/obsidian_deck/icons/gitBranch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7934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151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backlinks automatically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03580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shows everywhere else it's mentioned, so unexpected connections between sources surface on their own.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03904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13" name="Image 2" descr="/home/claude/obsidian_deck/icons/networ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96392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856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out with the graph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206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view reveals clusters of related work and isolated notes that need more connecting.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974336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17" name="Image 3" descr="/home/claude/obsidian_deck/icons/search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513435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56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Full-text search, instantly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3766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thousands of notes and PDFs at once — no re-reading old material to find where an idea came from.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132320" y="1444752"/>
            <a:ext cx="4389120" cy="4663440"/>
          </a:xfrm>
          <a:prstGeom prst="roundRect">
            <a:avLst>
              <a:gd name="adj" fmla="val 2917"/>
            </a:avLst>
          </a:prstGeom>
          <a:solidFill>
            <a:srgbClr val="211A30"/>
          </a:solidFill>
          <a:ln/>
        </p:spPr>
      </p:sp>
      <p:sp>
        <p:nvSpPr>
          <p:cNvPr id="43" name="Text 37"/>
          <p:cNvSpPr/>
          <p:nvPr/>
        </p:nvSpPr>
        <p:spPr>
          <a:xfrm>
            <a:off x="7503015" y="564602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research, mapped as it grows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E20F407-A4C9-2FCF-927C-5975E5B2A473}"/>
              </a:ext>
            </a:extLst>
          </p:cNvPr>
          <p:cNvGrpSpPr/>
          <p:nvPr/>
        </p:nvGrpSpPr>
        <p:grpSpPr>
          <a:xfrm>
            <a:off x="7315200" y="1464288"/>
            <a:ext cx="3840480" cy="4273572"/>
            <a:chOff x="6129252" y="835429"/>
            <a:chExt cx="5309059" cy="5303519"/>
          </a:xfrm>
        </p:grpSpPr>
        <p:sp>
          <p:nvSpPr>
            <p:cNvPr id="45" name="Shape 0">
              <a:extLst>
                <a:ext uri="{FF2B5EF4-FFF2-40B4-BE49-F238E27FC236}">
                  <a16:creationId xmlns:a16="http://schemas.microsoft.com/office/drawing/2014/main" id="{3E73AFDD-6124-4C44-263C-CE6022DDD79F}"/>
                </a:ext>
              </a:extLst>
            </p:cNvPr>
            <p:cNvSpPr/>
            <p:nvPr/>
          </p:nvSpPr>
          <p:spPr>
            <a:xfrm flipV="1">
              <a:off x="9235440" y="914400"/>
              <a:ext cx="1371600" cy="36576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46" name="Shape 1">
              <a:extLst>
                <a:ext uri="{FF2B5EF4-FFF2-40B4-BE49-F238E27FC236}">
                  <a16:creationId xmlns:a16="http://schemas.microsoft.com/office/drawing/2014/main" id="{96AD3F98-7EEB-30E6-9361-12176E9942D3}"/>
                </a:ext>
              </a:extLst>
            </p:cNvPr>
            <p:cNvSpPr/>
            <p:nvPr/>
          </p:nvSpPr>
          <p:spPr>
            <a:xfrm>
              <a:off x="9235440" y="1280160"/>
              <a:ext cx="2103120" cy="82296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40D34015-676C-129D-086E-AA0E72F54F44}"/>
                </a:ext>
              </a:extLst>
            </p:cNvPr>
            <p:cNvSpPr/>
            <p:nvPr/>
          </p:nvSpPr>
          <p:spPr>
            <a:xfrm flipH="1" flipV="1">
              <a:off x="9235439" y="1280159"/>
              <a:ext cx="908163" cy="1371599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FB5633DE-568C-2437-587C-548492C2FFC5}"/>
                </a:ext>
              </a:extLst>
            </p:cNvPr>
            <p:cNvSpPr/>
            <p:nvPr/>
          </p:nvSpPr>
          <p:spPr>
            <a:xfrm>
              <a:off x="10607040" y="914400"/>
              <a:ext cx="731520" cy="118872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49" name="Shape 4">
              <a:extLst>
                <a:ext uri="{FF2B5EF4-FFF2-40B4-BE49-F238E27FC236}">
                  <a16:creationId xmlns:a16="http://schemas.microsoft.com/office/drawing/2014/main" id="{1466FB8E-849F-FE1D-BE80-D6778A54916C}"/>
                </a:ext>
              </a:extLst>
            </p:cNvPr>
            <p:cNvSpPr/>
            <p:nvPr/>
          </p:nvSpPr>
          <p:spPr>
            <a:xfrm flipH="1" flipV="1">
              <a:off x="10149840" y="2697479"/>
              <a:ext cx="1005840" cy="132588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0" name="Shape 5">
              <a:extLst>
                <a:ext uri="{FF2B5EF4-FFF2-40B4-BE49-F238E27FC236}">
                  <a16:creationId xmlns:a16="http://schemas.microsoft.com/office/drawing/2014/main" id="{703B3313-7D69-2AE2-89A8-A9EF4000273E}"/>
                </a:ext>
              </a:extLst>
            </p:cNvPr>
            <p:cNvSpPr/>
            <p:nvPr/>
          </p:nvSpPr>
          <p:spPr>
            <a:xfrm>
              <a:off x="8778240" y="2367049"/>
              <a:ext cx="1402772" cy="284711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1" name="Shape 6">
              <a:extLst>
                <a:ext uri="{FF2B5EF4-FFF2-40B4-BE49-F238E27FC236}">
                  <a16:creationId xmlns:a16="http://schemas.microsoft.com/office/drawing/2014/main" id="{ED198851-0AAD-B13F-4502-F134E3313BB5}"/>
                </a:ext>
              </a:extLst>
            </p:cNvPr>
            <p:cNvSpPr/>
            <p:nvPr/>
          </p:nvSpPr>
          <p:spPr>
            <a:xfrm flipV="1">
              <a:off x="10181012" y="2136371"/>
              <a:ext cx="1188719" cy="487334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2" name="Shape 7">
              <a:extLst>
                <a:ext uri="{FF2B5EF4-FFF2-40B4-BE49-F238E27FC236}">
                  <a16:creationId xmlns:a16="http://schemas.microsoft.com/office/drawing/2014/main" id="{C9F61EDA-3D8E-F051-DF6B-F22357F0AD81}"/>
                </a:ext>
              </a:extLst>
            </p:cNvPr>
            <p:cNvSpPr/>
            <p:nvPr/>
          </p:nvSpPr>
          <p:spPr>
            <a:xfrm>
              <a:off x="9692640" y="3749040"/>
              <a:ext cx="1463040" cy="27432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3" name="Shape 8">
              <a:extLst>
                <a:ext uri="{FF2B5EF4-FFF2-40B4-BE49-F238E27FC236}">
                  <a16:creationId xmlns:a16="http://schemas.microsoft.com/office/drawing/2014/main" id="{66F2DB75-0C84-A012-87E0-BDDC68BC176A}"/>
                </a:ext>
              </a:extLst>
            </p:cNvPr>
            <p:cNvSpPr/>
            <p:nvPr/>
          </p:nvSpPr>
          <p:spPr>
            <a:xfrm flipV="1">
              <a:off x="9158755" y="5153891"/>
              <a:ext cx="1188720" cy="41148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4" name="Shape 9">
              <a:extLst>
                <a:ext uri="{FF2B5EF4-FFF2-40B4-BE49-F238E27FC236}">
                  <a16:creationId xmlns:a16="http://schemas.microsoft.com/office/drawing/2014/main" id="{17DB3AE8-7035-000F-5458-B05FC40D4C75}"/>
                </a:ext>
              </a:extLst>
            </p:cNvPr>
            <p:cNvSpPr/>
            <p:nvPr/>
          </p:nvSpPr>
          <p:spPr>
            <a:xfrm>
              <a:off x="9692640" y="3749040"/>
              <a:ext cx="731520" cy="137160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1866468C-5866-654D-D132-D405F6B9CD08}"/>
                </a:ext>
              </a:extLst>
            </p:cNvPr>
            <p:cNvSpPr/>
            <p:nvPr/>
          </p:nvSpPr>
          <p:spPr>
            <a:xfrm>
              <a:off x="9074173" y="5577839"/>
              <a:ext cx="1242545" cy="492529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6" name="Shape 11">
              <a:extLst>
                <a:ext uri="{FF2B5EF4-FFF2-40B4-BE49-F238E27FC236}">
                  <a16:creationId xmlns:a16="http://schemas.microsoft.com/office/drawing/2014/main" id="{4601551B-CEE4-9218-52C2-AE6B440D5CCB}"/>
                </a:ext>
              </a:extLst>
            </p:cNvPr>
            <p:cNvSpPr/>
            <p:nvPr/>
          </p:nvSpPr>
          <p:spPr>
            <a:xfrm>
              <a:off x="8503920" y="4206240"/>
              <a:ext cx="640080" cy="137160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7" name="Shape 12">
              <a:extLst>
                <a:ext uri="{FF2B5EF4-FFF2-40B4-BE49-F238E27FC236}">
                  <a16:creationId xmlns:a16="http://schemas.microsoft.com/office/drawing/2014/main" id="{15B4B06E-8A37-FAE4-8539-E254D8421BF1}"/>
                </a:ext>
              </a:extLst>
            </p:cNvPr>
            <p:cNvSpPr/>
            <p:nvPr/>
          </p:nvSpPr>
          <p:spPr>
            <a:xfrm flipH="1">
              <a:off x="11155680" y="2103120"/>
              <a:ext cx="182880" cy="192024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58" name="Shape 13">
              <a:extLst>
                <a:ext uri="{FF2B5EF4-FFF2-40B4-BE49-F238E27FC236}">
                  <a16:creationId xmlns:a16="http://schemas.microsoft.com/office/drawing/2014/main" id="{88C04F0D-4C68-489E-8E23-76EB98437E1F}"/>
                </a:ext>
              </a:extLst>
            </p:cNvPr>
            <p:cNvSpPr/>
            <p:nvPr/>
          </p:nvSpPr>
          <p:spPr>
            <a:xfrm>
              <a:off x="9134856" y="1179576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59" name="Shape 14">
              <a:extLst>
                <a:ext uri="{FF2B5EF4-FFF2-40B4-BE49-F238E27FC236}">
                  <a16:creationId xmlns:a16="http://schemas.microsoft.com/office/drawing/2014/main" id="{A1455AD0-D10D-8E4B-5E35-CD0456EEC7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28069" y="835429"/>
              <a:ext cx="180000" cy="18000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60" name="Shape 15">
              <a:extLst>
                <a:ext uri="{FF2B5EF4-FFF2-40B4-BE49-F238E27FC236}">
                  <a16:creationId xmlns:a16="http://schemas.microsoft.com/office/drawing/2014/main" id="{A97BBDB1-1BD9-477B-832C-EA30711FD8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22311" y="2009148"/>
              <a:ext cx="216000" cy="21600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61" name="Shape 16">
              <a:extLst>
                <a:ext uri="{FF2B5EF4-FFF2-40B4-BE49-F238E27FC236}">
                  <a16:creationId xmlns:a16="http://schemas.microsoft.com/office/drawing/2014/main" id="{F5B2791E-30D8-1EF0-54B0-3D4DB1736805}"/>
                </a:ext>
              </a:extLst>
            </p:cNvPr>
            <p:cNvSpPr/>
            <p:nvPr/>
          </p:nvSpPr>
          <p:spPr>
            <a:xfrm>
              <a:off x="10049256" y="2551176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62" name="Shape 17">
              <a:extLst>
                <a:ext uri="{FF2B5EF4-FFF2-40B4-BE49-F238E27FC236}">
                  <a16:creationId xmlns:a16="http://schemas.microsoft.com/office/drawing/2014/main" id="{D23657CF-F87C-E9C7-400B-4AC8C4F31579}"/>
                </a:ext>
              </a:extLst>
            </p:cNvPr>
            <p:cNvSpPr/>
            <p:nvPr/>
          </p:nvSpPr>
          <p:spPr>
            <a:xfrm>
              <a:off x="8709660" y="2308860"/>
              <a:ext cx="137160" cy="13716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63" name="Shape 18">
              <a:extLst>
                <a:ext uri="{FF2B5EF4-FFF2-40B4-BE49-F238E27FC236}">
                  <a16:creationId xmlns:a16="http://schemas.microsoft.com/office/drawing/2014/main" id="{34C85DA2-0736-9E03-26FD-88A7DD013B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24060" y="3680460"/>
              <a:ext cx="180000" cy="18000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64" name="Shape 19">
              <a:extLst>
                <a:ext uri="{FF2B5EF4-FFF2-40B4-BE49-F238E27FC236}">
                  <a16:creationId xmlns:a16="http://schemas.microsoft.com/office/drawing/2014/main" id="{45984A30-8E86-1D3E-33BC-0E67687610F9}"/>
                </a:ext>
              </a:extLst>
            </p:cNvPr>
            <p:cNvSpPr/>
            <p:nvPr/>
          </p:nvSpPr>
          <p:spPr>
            <a:xfrm>
              <a:off x="11055096" y="3922776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65" name="Shape 20">
              <a:extLst>
                <a:ext uri="{FF2B5EF4-FFF2-40B4-BE49-F238E27FC236}">
                  <a16:creationId xmlns:a16="http://schemas.microsoft.com/office/drawing/2014/main" id="{F8896CDD-6646-F3F4-94F9-CD8D14D1D767}"/>
                </a:ext>
              </a:extLst>
            </p:cNvPr>
            <p:cNvSpPr/>
            <p:nvPr/>
          </p:nvSpPr>
          <p:spPr>
            <a:xfrm>
              <a:off x="8435340" y="4137660"/>
              <a:ext cx="137160" cy="13716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66" name="Shape 21">
              <a:extLst>
                <a:ext uri="{FF2B5EF4-FFF2-40B4-BE49-F238E27FC236}">
                  <a16:creationId xmlns:a16="http://schemas.microsoft.com/office/drawing/2014/main" id="{D2FD6088-5D27-3EF8-8652-8688F5932187}"/>
                </a:ext>
              </a:extLst>
            </p:cNvPr>
            <p:cNvSpPr/>
            <p:nvPr/>
          </p:nvSpPr>
          <p:spPr>
            <a:xfrm>
              <a:off x="10355580" y="5052060"/>
              <a:ext cx="137160" cy="13716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67" name="Shape 22">
              <a:extLst>
                <a:ext uri="{FF2B5EF4-FFF2-40B4-BE49-F238E27FC236}">
                  <a16:creationId xmlns:a16="http://schemas.microsoft.com/office/drawing/2014/main" id="{84C69E0A-F8A3-2D19-81CF-B75439DB509A}"/>
                </a:ext>
              </a:extLst>
            </p:cNvPr>
            <p:cNvSpPr/>
            <p:nvPr/>
          </p:nvSpPr>
          <p:spPr>
            <a:xfrm>
              <a:off x="9043416" y="5477256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68" name="Shape 2">
              <a:extLst>
                <a:ext uri="{FF2B5EF4-FFF2-40B4-BE49-F238E27FC236}">
                  <a16:creationId xmlns:a16="http://schemas.microsoft.com/office/drawing/2014/main" id="{38181584-E505-9686-B8FE-2DABBBD1961F}"/>
                </a:ext>
              </a:extLst>
            </p:cNvPr>
            <p:cNvSpPr/>
            <p:nvPr/>
          </p:nvSpPr>
          <p:spPr>
            <a:xfrm flipV="1">
              <a:off x="7123068" y="2887288"/>
              <a:ext cx="446364" cy="1035488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69" name="Shape 3">
              <a:extLst>
                <a:ext uri="{FF2B5EF4-FFF2-40B4-BE49-F238E27FC236}">
                  <a16:creationId xmlns:a16="http://schemas.microsoft.com/office/drawing/2014/main" id="{89ED78BF-607B-E70F-CB19-E47CE26642FF}"/>
                </a:ext>
              </a:extLst>
            </p:cNvPr>
            <p:cNvSpPr/>
            <p:nvPr/>
          </p:nvSpPr>
          <p:spPr>
            <a:xfrm>
              <a:off x="8026632" y="1149928"/>
              <a:ext cx="731520" cy="1188720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70" name="Shape 5">
              <a:extLst>
                <a:ext uri="{FF2B5EF4-FFF2-40B4-BE49-F238E27FC236}">
                  <a16:creationId xmlns:a16="http://schemas.microsoft.com/office/drawing/2014/main" id="{C07F6E9C-4E1E-A7C2-AD0D-ED5C058E2F97}"/>
                </a:ext>
              </a:extLst>
            </p:cNvPr>
            <p:cNvSpPr/>
            <p:nvPr/>
          </p:nvSpPr>
          <p:spPr>
            <a:xfrm>
              <a:off x="6197832" y="2602577"/>
              <a:ext cx="1402772" cy="284711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71" name="Shape 6">
              <a:extLst>
                <a:ext uri="{FF2B5EF4-FFF2-40B4-BE49-F238E27FC236}">
                  <a16:creationId xmlns:a16="http://schemas.microsoft.com/office/drawing/2014/main" id="{3D65443F-4460-5F90-909B-AD6BDE74C609}"/>
                </a:ext>
              </a:extLst>
            </p:cNvPr>
            <p:cNvSpPr/>
            <p:nvPr/>
          </p:nvSpPr>
          <p:spPr>
            <a:xfrm flipV="1">
              <a:off x="7600604" y="2371899"/>
              <a:ext cx="1188719" cy="487334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72" name="Shape 13">
              <a:extLst>
                <a:ext uri="{FF2B5EF4-FFF2-40B4-BE49-F238E27FC236}">
                  <a16:creationId xmlns:a16="http://schemas.microsoft.com/office/drawing/2014/main" id="{761C6954-51E9-E605-AB11-BF32EF59ADF6}"/>
                </a:ext>
              </a:extLst>
            </p:cNvPr>
            <p:cNvSpPr/>
            <p:nvPr/>
          </p:nvSpPr>
          <p:spPr>
            <a:xfrm>
              <a:off x="7022592" y="3850455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73" name="Shape 14">
              <a:extLst>
                <a:ext uri="{FF2B5EF4-FFF2-40B4-BE49-F238E27FC236}">
                  <a16:creationId xmlns:a16="http://schemas.microsoft.com/office/drawing/2014/main" id="{A516FB8C-211C-C6A1-C13B-36E67AA2D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47661" y="1070957"/>
              <a:ext cx="180000" cy="18000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74" name="Shape 15">
              <a:extLst>
                <a:ext uri="{FF2B5EF4-FFF2-40B4-BE49-F238E27FC236}">
                  <a16:creationId xmlns:a16="http://schemas.microsoft.com/office/drawing/2014/main" id="{370CB80D-8C0D-D959-E93C-EDD60C17B8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41903" y="2244676"/>
              <a:ext cx="216000" cy="21600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75" name="Shape 16">
              <a:extLst>
                <a:ext uri="{FF2B5EF4-FFF2-40B4-BE49-F238E27FC236}">
                  <a16:creationId xmlns:a16="http://schemas.microsoft.com/office/drawing/2014/main" id="{7135EBB1-85A5-A80F-2B5E-DC149B701B1A}"/>
                </a:ext>
              </a:extLst>
            </p:cNvPr>
            <p:cNvSpPr/>
            <p:nvPr/>
          </p:nvSpPr>
          <p:spPr>
            <a:xfrm>
              <a:off x="7468848" y="2786704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76" name="Shape 17">
              <a:extLst>
                <a:ext uri="{FF2B5EF4-FFF2-40B4-BE49-F238E27FC236}">
                  <a16:creationId xmlns:a16="http://schemas.microsoft.com/office/drawing/2014/main" id="{A2FB7425-2CBE-9646-FF00-6C223603FD4D}"/>
                </a:ext>
              </a:extLst>
            </p:cNvPr>
            <p:cNvSpPr/>
            <p:nvPr/>
          </p:nvSpPr>
          <p:spPr>
            <a:xfrm>
              <a:off x="6129252" y="2544388"/>
              <a:ext cx="137160" cy="137160"/>
            </a:xfrm>
            <a:prstGeom prst="ellipse">
              <a:avLst/>
            </a:prstGeom>
            <a:solidFill>
              <a:srgbClr val="8B5CF6"/>
            </a:solidFill>
            <a:ln/>
          </p:spPr>
        </p:sp>
        <p:sp>
          <p:nvSpPr>
            <p:cNvPr id="77" name="Shape 10">
              <a:extLst>
                <a:ext uri="{FF2B5EF4-FFF2-40B4-BE49-F238E27FC236}">
                  <a16:creationId xmlns:a16="http://schemas.microsoft.com/office/drawing/2014/main" id="{5E2D00DB-0B27-15B2-47C4-7DFEB610DF78}"/>
                </a:ext>
              </a:extLst>
            </p:cNvPr>
            <p:cNvSpPr/>
            <p:nvPr/>
          </p:nvSpPr>
          <p:spPr>
            <a:xfrm>
              <a:off x="7567691" y="2892484"/>
              <a:ext cx="2156121" cy="900543"/>
            </a:xfrm>
            <a:prstGeom prst="line">
              <a:avLst/>
            </a:prstGeom>
            <a:noFill/>
            <a:ln w="15875">
              <a:solidFill>
                <a:srgbClr val="5B21B6"/>
              </a:solidFill>
              <a:prstDash val="solid"/>
            </a:ln>
          </p:spPr>
        </p:sp>
        <p:sp>
          <p:nvSpPr>
            <p:cNvPr id="78" name="Shape 16">
              <a:extLst>
                <a:ext uri="{FF2B5EF4-FFF2-40B4-BE49-F238E27FC236}">
                  <a16:creationId xmlns:a16="http://schemas.microsoft.com/office/drawing/2014/main" id="{4DA414DB-0A24-557C-460D-7DCE3D02F9F9}"/>
                </a:ext>
              </a:extLst>
            </p:cNvPr>
            <p:cNvSpPr/>
            <p:nvPr/>
          </p:nvSpPr>
          <p:spPr>
            <a:xfrm>
              <a:off x="7466564" y="2782548"/>
              <a:ext cx="201168" cy="201168"/>
            </a:xfrm>
            <a:prstGeom prst="ellipse">
              <a:avLst/>
            </a:prstGeom>
            <a:solidFill>
              <a:srgbClr val="A78BFA"/>
            </a:solidFill>
            <a:ln/>
          </p:spPr>
        </p:sp>
        <p:sp>
          <p:nvSpPr>
            <p:cNvPr id="79" name="Shape 17">
              <a:extLst>
                <a:ext uri="{FF2B5EF4-FFF2-40B4-BE49-F238E27FC236}">
                  <a16:creationId xmlns:a16="http://schemas.microsoft.com/office/drawing/2014/main" id="{320AC2B3-E183-52A0-AB2D-0EB3775B3DA5}"/>
                </a:ext>
              </a:extLst>
            </p:cNvPr>
            <p:cNvSpPr/>
            <p:nvPr/>
          </p:nvSpPr>
          <p:spPr>
            <a:xfrm>
              <a:off x="10297323" y="6001788"/>
              <a:ext cx="137160" cy="137160"/>
            </a:xfrm>
            <a:prstGeom prst="ellipse">
              <a:avLst/>
            </a:prstGeom>
            <a:solidFill>
              <a:srgbClr val="8B5CF6"/>
            </a:solidFill>
            <a:ln/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5" name="Image 0" descr="/home/claude/obsidian_deck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core app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note-taking features cost nothing; only sync/publish add-ons are paid.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9" name="Image 1" descr="/home/claude/obsidian_deck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91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own your files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61772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files — no lock-in, no proprietary format, readable forever.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29600" y="14630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13" name="Image 2" descr="/home/claude/obsidian_deck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fully offline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45820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 needed; everything lives on your device.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17" name="Image 3" descr="/home/claude/obsidian_deck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customization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77240" y="4297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plugins and themes adapt it to almost any workflow.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89120" y="3291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21" name="Image 4" descr="/home/claude/obsidian_deck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5204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local search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617720" y="4297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full-text search across huge vaults, even with many PDFs attached.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229600" y="3291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25" name="Image 5" descr="/home/claude/obsidian_deck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5204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5820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Future-proof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8458200" y="4297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notes are plain text, they'll open in any editor, decades from now.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5" name="Image 0" descr="/home/claude/obsidian_deck/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Linking, plugins, and Markdown syntax take longer to learn than a simple notes app.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9" name="Image 1" descr="/home/claude/obsidian_deck/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91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built-in real-time collaboration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61772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co-editing a note live with others, unlike Notion or Google Docs.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29600" y="14630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13" name="Image 2" descr="/home/claude/obsidian_deck/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is lighter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45820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plugins and heavy vaults behave less smoothly on phones and tablets.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17" name="Image 3" descr="/home/claude/obsidian_deck/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costs extra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77240" y="4297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sync/publish across devices is a paid add-on (free alternatives exist, but need setup).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89120" y="3291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21" name="Image 4" descr="/home/claude/obsidian_deck/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5204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is on you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617720" y="4297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built-in rules — an unstructured vault can get messy without personal discipline.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229600" y="3291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11A30"/>
          </a:solidFill>
          <a:ln/>
        </p:spPr>
      </p:sp>
      <p:pic>
        <p:nvPicPr>
          <p:cNvPr id="25" name="Image 5" descr="/home/claude/obsidian_deck/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5204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5820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 quality varies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8458200" y="4297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plugins are powerful but not all are equally polished or maintained.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COMPARES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 vs. other popular 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417320"/>
            <a:ext cx="2194560" cy="658368"/>
          </a:xfrm>
          <a:prstGeom prst="rect">
            <a:avLst/>
          </a:prstGeom>
          <a:solidFill>
            <a:srgbClr val="5B21B6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Evernote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18320" y="1417320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Roam Research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075688"/>
            <a:ext cx="228600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756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34640" y="2075688"/>
            <a:ext cx="2194560" cy="658368"/>
          </a:xfrm>
          <a:prstGeom prst="rect">
            <a:avLst/>
          </a:prstGeom>
          <a:solidFill>
            <a:srgbClr val="2E235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075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0" y="2075688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075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2075688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075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18320" y="2075688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2075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2734056"/>
            <a:ext cx="228600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34056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834640" y="2734056"/>
            <a:ext cx="2194560" cy="658368"/>
          </a:xfrm>
          <a:prstGeom prst="rect">
            <a:avLst/>
          </a:prstGeom>
          <a:solidFill>
            <a:srgbClr val="2E235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27340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0" y="2734056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7340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23760" y="2734056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7340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18320" y="2734056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27340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3392424"/>
            <a:ext cx="228600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924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834640" y="3392424"/>
            <a:ext cx="2194560" cy="658368"/>
          </a:xfrm>
          <a:prstGeom prst="rect">
            <a:avLst/>
          </a:prstGeom>
          <a:solidFill>
            <a:srgbClr val="2E235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33924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29200" y="3392424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3924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223760" y="3392424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33924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418320" y="3392424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33924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050792"/>
            <a:ext cx="228600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0507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links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834640" y="4050792"/>
            <a:ext cx="2194560" cy="658368"/>
          </a:xfrm>
          <a:prstGeom prst="rect">
            <a:avLst/>
          </a:prstGeom>
          <a:solidFill>
            <a:srgbClr val="2E235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0" y="40507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029200" y="4050792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40507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223760" y="4050792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40507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418320" y="4050792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18320" y="40507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4709160"/>
            <a:ext cx="228600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7091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2834640" y="4709160"/>
            <a:ext cx="2194560" cy="658368"/>
          </a:xfrm>
          <a:prstGeom prst="rect">
            <a:avLst/>
          </a:prstGeom>
          <a:solidFill>
            <a:srgbClr val="2E235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0" y="4709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029200" y="4709160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4709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223760" y="4709160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0" y="4709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418320" y="4709160"/>
            <a:ext cx="2194560" cy="658368"/>
          </a:xfrm>
          <a:prstGeom prst="rect">
            <a:avLst/>
          </a:prstGeom>
          <a:solidFill>
            <a:srgbClr val="211A3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18320" y="4709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548640" y="5367528"/>
            <a:ext cx="228600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3675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2834640" y="5367528"/>
            <a:ext cx="2194560" cy="658368"/>
          </a:xfrm>
          <a:prstGeom prst="rect">
            <a:avLst/>
          </a:prstGeom>
          <a:solidFill>
            <a:srgbClr val="2E2350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34640" y="5367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029200" y="5367528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5367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paid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7223760" y="5367528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5367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paid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9418320" y="5367528"/>
            <a:ext cx="2194560" cy="658368"/>
          </a:xfrm>
          <a:prstGeom prst="rect">
            <a:avLst/>
          </a:prstGeom>
          <a:solidFill>
            <a:srgbClr val="1B1628"/>
          </a:solidFill>
          <a:ln w="19050">
            <a:solidFill>
              <a:srgbClr val="15111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18320" y="5367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548640" y="61630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comparison — each tool has configurations and plugins that shift these trade-offs.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ACADEMIC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 &amp; citation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isn't a citation manager itself — it pairs with one. Reference tools like Zotero export your library, and community plugins bring that library straight into your notes.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7" name="Image 0" descr="/home/claude/obsidian_deck/icons/boo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9889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plugin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references from Zotero or a BibTeX file and insert formatted citations directly into a note.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2" name="Image 1" descr="/home/claude/obsidian_deck/icons/fil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905" y="29889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annotation import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1188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highlights and comments from your PDF reader into linked, searchable notes.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7" name="Image 2" descr="/home/claude/obsidian_deck/icons/lin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45" y="298894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note per source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4652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paper its own note — link it to concepts, projects, and other papers it relates to.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21" name="Shape 16"/>
          <p:cNvSpPr/>
          <p:nvPr/>
        </p:nvSpPr>
        <p:spPr>
          <a:xfrm>
            <a:off x="932688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22" name="Image 3" descr="/home/claude/obsidian_deck/icons/networ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1185" y="298894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maps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8116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view turns a reading list into a visual map of how sources relate to each other.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THINGS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&amp; project management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5" name="Image 0" descr="/home/claude/obsidian_deck/icons/tas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447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Checkboxes anywhere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186537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line into a task with "- [ ]"; check it off right inside your notes.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9" name="Image 1" descr="/home/claude/obsidian_deck/icons/search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8117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Tasks plugin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05409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every checkbox across your whole vault into one dashboard, filterable by due date or tag.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13" name="Image 2" descr="/home/claude/obsidian_deck/icons/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0005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22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boards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24281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adds drag-and-drop boards — great for tracking a project's stages.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211A30"/>
          </a:solidFill>
          <a:ln/>
        </p:spPr>
      </p:sp>
      <p:pic>
        <p:nvPicPr>
          <p:cNvPr id="17" name="Image 3" descr="/home/claude/obsidian_deck/icons/tag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51892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0109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&amp; projects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43153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notes and tasks by project (#thesis, #grant-2026) and pull them together with search.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223760" y="1463040"/>
            <a:ext cx="4389120" cy="4663440"/>
          </a:xfrm>
          <a:prstGeom prst="roundRect">
            <a:avLst>
              <a:gd name="adj" fmla="val 2917"/>
            </a:avLst>
          </a:prstGeom>
          <a:solidFill>
            <a:srgbClr val="211A30"/>
          </a:solidFill>
          <a:ln/>
        </p:spPr>
      </p:sp>
      <p:sp>
        <p:nvSpPr>
          <p:cNvPr id="21" name="Text 15"/>
          <p:cNvSpPr/>
          <p:nvPr/>
        </p:nvSpPr>
        <p:spPr>
          <a:xfrm>
            <a:off x="75438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Project: Field Study 2026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543800" y="23317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A2140"/>
          </a:solidFill>
          <a:ln/>
        </p:spPr>
      </p:sp>
      <p:pic>
        <p:nvPicPr>
          <p:cNvPr id="23" name="Image 4" descr="/home/claude/obsidian_deck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45059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838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strike="sngStrike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literature review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7543800" y="30175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A2140"/>
          </a:solidFill>
          <a:ln/>
        </p:spPr>
      </p:sp>
      <p:pic>
        <p:nvPicPr>
          <p:cNvPr id="26" name="Image 5" descr="/home/claude/obsidian_deck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3136392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838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strike="sngStrike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ethics approval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7543800" y="37033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A2140"/>
          </a:solidFill>
          <a:ln/>
        </p:spPr>
      </p:sp>
      <p:pic>
        <p:nvPicPr>
          <p:cNvPr id="29" name="Image 6" descr="/home/claude/obsidian_deck/icons/task_muted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822192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18388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pilot data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7543800" y="43891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A2140"/>
          </a:solidFill>
          <a:ln/>
        </p:spPr>
      </p:sp>
      <p:pic>
        <p:nvPicPr>
          <p:cNvPr id="32" name="Image 7" descr="/home/claude/obsidian_deck/icons/task_muted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4507992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18388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results in R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7543800" y="50749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A2140"/>
          </a:solidFill>
          <a:ln/>
        </p:spPr>
      </p:sp>
      <p:pic>
        <p:nvPicPr>
          <p:cNvPr id="35" name="Image 8" descr="/home/claude/obsidian_deck/icons/task_muted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5193792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18388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discussion section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YOUR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management with daily notes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note opens automatically for today, tomorrow, or any date — a natural home for logging what you did, planning what's next, and linking straight to the projects and papers involved.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7" name="Image 0" descr="/home/claude/obsidian_deck/icons/calendar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9889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notes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 per day, created automatically from a template — journal, log, or planner.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2" name="Image 1" descr="/home/claude/obsidian_deck/icons/clo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905" y="29889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notes plugin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1188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idea to weekly, monthly, and yearly notes for reviews and long-range planning.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7" name="Image 2" descr="/home/claude/obsidian_deck/icons/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45" y="298894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built-in calendar view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4652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month at a glance and jump straight into any day's note.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2514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21" name="Shape 16"/>
          <p:cNvSpPr/>
          <p:nvPr/>
        </p:nvSpPr>
        <p:spPr>
          <a:xfrm>
            <a:off x="9326880" y="2834640"/>
            <a:ext cx="685800" cy="68580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22" name="Image 3" descr="/home/claude/obsidian_deck/icons/star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1185" y="298894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81160" y="434340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each day with goals, a task list, and a mood or focus log — created once, reused daily.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HOUR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started, 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194560" y="1828800"/>
            <a:ext cx="640080" cy="64008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7" name="Image 0" descr="/home/claude/obsidian_deck/icons/downloa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19888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open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Obsidian (free) for your computer or phone and create a new vault — just a folder.</a:t>
            </a:r>
            <a:endParaRPr lang="en-US" sz="1150" dirty="0"/>
          </a:p>
        </p:txBody>
      </p:sp>
      <p:pic>
        <p:nvPicPr>
          <p:cNvPr id="10" name="Image 1" descr="/home/claude/obsidian_deck/icons/arrowRight_muted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315468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12" name="Text 8"/>
          <p:cNvSpPr/>
          <p:nvPr/>
        </p:nvSpPr>
        <p:spPr>
          <a:xfrm>
            <a:off x="361188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5029200" y="1828800"/>
            <a:ext cx="640080" cy="64008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14" name="Image 2" descr="/home/claude/obsidian_deck/icons/edit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220" y="19888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first notes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611880" y="32461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plainly: one note per topic, paper, or day. Don't worry about structure yet.</a:t>
            </a:r>
            <a:endParaRPr lang="en-US" sz="1150" dirty="0"/>
          </a:p>
        </p:txBody>
      </p:sp>
      <p:pic>
        <p:nvPicPr>
          <p:cNvPr id="17" name="Image 3" descr="/home/claude/obsidian_deck/icons/arrowRight_muted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315468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19" name="Text 13"/>
          <p:cNvSpPr/>
          <p:nvPr/>
        </p:nvSpPr>
        <p:spPr>
          <a:xfrm>
            <a:off x="644652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4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21" name="Image 4" descr="/home/claude/obsidian_deck/icons/lin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860" y="198882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4652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linking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446520" y="32461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ideas repeat, connect them with [[links]]. Structure emerges from your notes, not before them.</a:t>
            </a:r>
            <a:endParaRPr lang="en-US" sz="1150" dirty="0"/>
          </a:p>
        </p:txBody>
      </p:sp>
      <p:pic>
        <p:nvPicPr>
          <p:cNvPr id="24" name="Image 5" descr="/home/claude/obsidian_deck/icons/arrowRight_muted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3154680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52560" y="1554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11A30"/>
          </a:solidFill>
          <a:ln/>
        </p:spPr>
      </p:sp>
      <p:sp>
        <p:nvSpPr>
          <p:cNvPr id="26" name="Text 18"/>
          <p:cNvSpPr/>
          <p:nvPr/>
        </p:nvSpPr>
        <p:spPr>
          <a:xfrm>
            <a:off x="928116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Shape 19"/>
          <p:cNvSpPr/>
          <p:nvPr/>
        </p:nvSpPr>
        <p:spPr>
          <a:xfrm>
            <a:off x="10698480" y="1828800"/>
            <a:ext cx="640080" cy="640080"/>
          </a:xfrm>
          <a:prstGeom prst="ellipse">
            <a:avLst/>
          </a:prstGeom>
          <a:solidFill>
            <a:srgbClr val="2A2140"/>
          </a:solidFill>
          <a:ln/>
        </p:spPr>
      </p:sp>
      <p:pic>
        <p:nvPicPr>
          <p:cNvPr id="28" name="Image 6" descr="/home/claude/obsidian_deck/icons/puzzl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198882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8116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plugin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281160" y="32461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comfortable, add one plugin that solves a real need — Tasks, Calendar, or Citations.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don't over-plan folders and tags up front — a vault's structure works best when it grows from real use.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6459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tool, one vault,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endless connections.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trades built-in structure for flexibility and ownership: your notes, your files, your connections — useful for research, bibliography, tasks, and time, once you're willing to build the system yourself.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obsidian.md</a:t>
            </a:r>
            <a:endParaRPr lang="en-US" sz="14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585C53F1-B167-3EA9-DA2D-DBD196660E9D}"/>
              </a:ext>
            </a:extLst>
          </p:cNvPr>
          <p:cNvSpPr/>
          <p:nvPr/>
        </p:nvSpPr>
        <p:spPr>
          <a:xfrm flipV="1">
            <a:off x="9235440" y="914400"/>
            <a:ext cx="1371600" cy="36576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C28FC88-449A-9219-520C-EECA7D51BBF7}"/>
              </a:ext>
            </a:extLst>
          </p:cNvPr>
          <p:cNvSpPr/>
          <p:nvPr/>
        </p:nvSpPr>
        <p:spPr>
          <a:xfrm>
            <a:off x="9235440" y="1280160"/>
            <a:ext cx="2103120" cy="82296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5C56D9E0-5CC8-78AC-9770-27589194D6E6}"/>
              </a:ext>
            </a:extLst>
          </p:cNvPr>
          <p:cNvSpPr/>
          <p:nvPr/>
        </p:nvSpPr>
        <p:spPr>
          <a:xfrm flipH="1" flipV="1">
            <a:off x="9235439" y="1280159"/>
            <a:ext cx="908163" cy="1371599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3939FF36-B90E-C237-545C-94743D709058}"/>
              </a:ext>
            </a:extLst>
          </p:cNvPr>
          <p:cNvSpPr/>
          <p:nvPr/>
        </p:nvSpPr>
        <p:spPr>
          <a:xfrm>
            <a:off x="10607040" y="914400"/>
            <a:ext cx="731520" cy="118872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6830A991-961E-4579-1CFC-C00E58AB86F9}"/>
              </a:ext>
            </a:extLst>
          </p:cNvPr>
          <p:cNvSpPr/>
          <p:nvPr/>
        </p:nvSpPr>
        <p:spPr>
          <a:xfrm flipH="1" flipV="1">
            <a:off x="10149840" y="2697479"/>
            <a:ext cx="1005840" cy="132588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089E78A-ABA3-83A0-FD76-731FD701BAE5}"/>
              </a:ext>
            </a:extLst>
          </p:cNvPr>
          <p:cNvSpPr/>
          <p:nvPr/>
        </p:nvSpPr>
        <p:spPr>
          <a:xfrm flipV="1">
            <a:off x="10181012" y="2136371"/>
            <a:ext cx="1188719" cy="487334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78687288-CC72-CECE-40C8-8F70C6A57703}"/>
              </a:ext>
            </a:extLst>
          </p:cNvPr>
          <p:cNvSpPr/>
          <p:nvPr/>
        </p:nvSpPr>
        <p:spPr>
          <a:xfrm>
            <a:off x="9692640" y="3749040"/>
            <a:ext cx="1463040" cy="27432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3BA9178C-67D2-C87C-546C-F98AC1FA02EE}"/>
              </a:ext>
            </a:extLst>
          </p:cNvPr>
          <p:cNvSpPr/>
          <p:nvPr/>
        </p:nvSpPr>
        <p:spPr>
          <a:xfrm flipV="1">
            <a:off x="9158755" y="5153891"/>
            <a:ext cx="1188720" cy="41148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F5AF23FC-CA01-1878-28AF-C2E462605C62}"/>
              </a:ext>
            </a:extLst>
          </p:cNvPr>
          <p:cNvSpPr/>
          <p:nvPr/>
        </p:nvSpPr>
        <p:spPr>
          <a:xfrm>
            <a:off x="9692640" y="3749040"/>
            <a:ext cx="731520" cy="137160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DA8D353-7D1E-9AE1-6B4E-F45C29BBD5A9}"/>
              </a:ext>
            </a:extLst>
          </p:cNvPr>
          <p:cNvSpPr/>
          <p:nvPr/>
        </p:nvSpPr>
        <p:spPr>
          <a:xfrm>
            <a:off x="9074173" y="5577839"/>
            <a:ext cx="1242545" cy="492529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88B348D-93C4-9248-9C3E-3ABB24D3B692}"/>
              </a:ext>
            </a:extLst>
          </p:cNvPr>
          <p:cNvSpPr/>
          <p:nvPr/>
        </p:nvSpPr>
        <p:spPr>
          <a:xfrm>
            <a:off x="8503920" y="4206240"/>
            <a:ext cx="640080" cy="137160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183DD90B-49B7-779E-D8EA-F580A63F2112}"/>
              </a:ext>
            </a:extLst>
          </p:cNvPr>
          <p:cNvSpPr/>
          <p:nvPr/>
        </p:nvSpPr>
        <p:spPr>
          <a:xfrm flipH="1">
            <a:off x="11155680" y="2103120"/>
            <a:ext cx="182880" cy="1920240"/>
          </a:xfrm>
          <a:prstGeom prst="line">
            <a:avLst/>
          </a:prstGeom>
          <a:noFill/>
          <a:ln w="15875">
            <a:solidFill>
              <a:srgbClr val="5B21B6"/>
            </a:solidFill>
            <a:prstDash val="solid"/>
          </a:ln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5DAB7FF1-9A80-19F5-A69F-2354DA15D72F}"/>
              </a:ext>
            </a:extLst>
          </p:cNvPr>
          <p:cNvSpPr/>
          <p:nvPr/>
        </p:nvSpPr>
        <p:spPr>
          <a:xfrm>
            <a:off x="9134856" y="117957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32559690-F7DE-0E52-9926-C0237B8D6BC4}"/>
              </a:ext>
            </a:extLst>
          </p:cNvPr>
          <p:cNvSpPr>
            <a:spLocks noChangeAspect="1"/>
          </p:cNvSpPr>
          <p:nvPr/>
        </p:nvSpPr>
        <p:spPr>
          <a:xfrm>
            <a:off x="10528069" y="835429"/>
            <a:ext cx="180000" cy="180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3A41C3AA-8197-62F2-59CC-9CE8E94CA394}"/>
              </a:ext>
            </a:extLst>
          </p:cNvPr>
          <p:cNvSpPr>
            <a:spLocks noChangeAspect="1"/>
          </p:cNvSpPr>
          <p:nvPr/>
        </p:nvSpPr>
        <p:spPr>
          <a:xfrm>
            <a:off x="11222311" y="2009148"/>
            <a:ext cx="216000" cy="216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B50DA012-67F7-EE9E-FF1A-4BB4B1B1E923}"/>
              </a:ext>
            </a:extLst>
          </p:cNvPr>
          <p:cNvSpPr/>
          <p:nvPr/>
        </p:nvSpPr>
        <p:spPr>
          <a:xfrm>
            <a:off x="10049256" y="255117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80533C7D-81C6-BCFC-C4DD-5059E4D64CBA}"/>
              </a:ext>
            </a:extLst>
          </p:cNvPr>
          <p:cNvSpPr>
            <a:spLocks noChangeAspect="1"/>
          </p:cNvSpPr>
          <p:nvPr/>
        </p:nvSpPr>
        <p:spPr>
          <a:xfrm>
            <a:off x="9624060" y="3680460"/>
            <a:ext cx="180000" cy="1800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40819DFA-8C9B-6EE3-4441-A144352EDE4C}"/>
              </a:ext>
            </a:extLst>
          </p:cNvPr>
          <p:cNvSpPr/>
          <p:nvPr/>
        </p:nvSpPr>
        <p:spPr>
          <a:xfrm>
            <a:off x="11055096" y="392277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A19956C2-ED2E-A41C-9AEC-7C07481B5315}"/>
              </a:ext>
            </a:extLst>
          </p:cNvPr>
          <p:cNvSpPr/>
          <p:nvPr/>
        </p:nvSpPr>
        <p:spPr>
          <a:xfrm>
            <a:off x="8435340" y="41376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28F9E009-B290-75E5-A31C-58F763405980}"/>
              </a:ext>
            </a:extLst>
          </p:cNvPr>
          <p:cNvSpPr/>
          <p:nvPr/>
        </p:nvSpPr>
        <p:spPr>
          <a:xfrm>
            <a:off x="10355580" y="50520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3687A464-AD2D-C1BF-1A0C-DC2E9319EA4D}"/>
              </a:ext>
            </a:extLst>
          </p:cNvPr>
          <p:cNvSpPr/>
          <p:nvPr/>
        </p:nvSpPr>
        <p:spPr>
          <a:xfrm>
            <a:off x="9043416" y="5477256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6A1EE84C-0B81-7024-74D8-B52554E20C45}"/>
              </a:ext>
            </a:extLst>
          </p:cNvPr>
          <p:cNvSpPr/>
          <p:nvPr/>
        </p:nvSpPr>
        <p:spPr>
          <a:xfrm>
            <a:off x="10297323" y="6001788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1175</Words>
  <Application>Microsoft Macintosh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Magda Szczuka</cp:lastModifiedBy>
  <cp:revision>2</cp:revision>
  <dcterms:created xsi:type="dcterms:W3CDTF">2026-07-21T09:01:37Z</dcterms:created>
  <dcterms:modified xsi:type="dcterms:W3CDTF">2026-07-21T10:47:53Z</dcterms:modified>
</cp:coreProperties>
</file>